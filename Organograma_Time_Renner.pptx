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102"/>
    <p:sldId id="258" r:id="rId103"/>
    <p:sldId id="259" r:id="rId104"/>
    <p:sldId id="260" r:id="rId105"/>
    <p:sldId id="261" r:id="rId106"/>
    <p:sldId id="262" r:id="rId107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<Relationship Id="rId105" Type="http://schemas.openxmlformats.org/officeDocument/2006/relationships/slide" Target="slides/slide5.xml"/><Relationship Id="rId106" Type="http://schemas.openxmlformats.org/officeDocument/2006/relationships/slide" Target="slides/slide6.xml"/><Relationship Id="rId107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304800"/>
            <a:ext cx="279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PAIM</a:t>
            </a:r>
            <a:pPr indent="0" marL="0">
              <a:buNone/>
            </a:pPr>
            <a:r>
              <a:rPr lang="en-US" sz="1400" dirty="0">
                <a:solidFill>
                  <a:srgbClr val="EC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CREATORS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9370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time de casa — Organograma time Renner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ORGANOGRAMA GERAL · TIME RENNER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4169664" y="1168400"/>
            <a:ext cx="3852672" cy="558800"/>
          </a:xfrm>
          <a:prstGeom prst="rect">
            <a:avLst/>
          </a:prstGeom>
          <a:solidFill>
            <a:srgbClr val="EC6A3B"/>
          </a:solidFill>
          <a:ln/>
        </p:spPr>
      </p:sp>
      <p:sp>
        <p:nvSpPr>
          <p:cNvPr id="6" name="Text 6"/>
          <p:cNvSpPr txBox="1"/>
          <p:nvPr/>
        </p:nvSpPr>
        <p:spPr>
          <a:xfrm>
            <a:off x="4169664" y="1168400"/>
            <a:ext cx="3852672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DIREÇÃO DE CONTA · CAROLINE LIMA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· BR · Latam · LRSA</a:t>
            </a:r>
            <a:endParaRPr lang="pt-BR" sz="1200" dirty="0"/>
          </a:p>
        </p:txBody>
      </p:sp>
      <p:sp>
        <p:nvSpPr>
          <p:cNvPr id="7" name="Shape 7"/>
          <p:cNvSpPr/>
          <p:nvPr/>
        </p:nvSpPr>
        <p:spPr>
          <a:xfrm>
            <a:off x="6096000" y="17272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8" name="Shape 8"/>
          <p:cNvSpPr/>
          <p:nvPr/>
        </p:nvSpPr>
        <p:spPr>
          <a:xfrm>
            <a:off x="1808480" y="1854200"/>
            <a:ext cx="857504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9" name="Shape 9"/>
          <p:cNvSpPr/>
          <p:nvPr/>
        </p:nvSpPr>
        <p:spPr>
          <a:xfrm>
            <a:off x="1808480" y="18542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0" name="Shape 10"/>
          <p:cNvSpPr/>
          <p:nvPr/>
        </p:nvSpPr>
        <p:spPr>
          <a:xfrm>
            <a:off x="3952240" y="18542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1" name="Shape 11"/>
          <p:cNvSpPr/>
          <p:nvPr/>
        </p:nvSpPr>
        <p:spPr>
          <a:xfrm>
            <a:off x="6096000" y="18542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2" name="Shape 12"/>
          <p:cNvSpPr/>
          <p:nvPr/>
        </p:nvSpPr>
        <p:spPr>
          <a:xfrm>
            <a:off x="8239760" y="18542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3" name="Shape 13"/>
          <p:cNvSpPr/>
          <p:nvPr/>
        </p:nvSpPr>
        <p:spPr>
          <a:xfrm>
            <a:off x="10383520" y="18542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4" name="Text 14"/>
          <p:cNvSpPr txBox="1"/>
          <p:nvPr/>
        </p:nvSpPr>
        <p:spPr>
          <a:xfrm>
            <a:off x="812800" y="1981200"/>
            <a:ext cx="1991360" cy="419100"/>
          </a:xfrm>
          <a:prstGeom prst="rect">
            <a:avLst/>
          </a:prstGeom>
          <a:solidFill>
            <a:srgbClr val="5E5E5E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</a:t>
            </a:r>
            <a:endParaRPr lang="pt-BR" sz="1200" dirty="0"/>
          </a:p>
        </p:txBody>
      </p:sp>
      <p:sp>
        <p:nvSpPr>
          <p:cNvPr id="15" name="Shape 15"/>
          <p:cNvSpPr/>
          <p:nvPr/>
        </p:nvSpPr>
        <p:spPr>
          <a:xfrm>
            <a:off x="812800" y="2476500"/>
            <a:ext cx="1991360" cy="877824"/>
          </a:xfrm>
          <a:prstGeom prst="rect">
            <a:avLst/>
          </a:prstGeom>
          <a:solidFill>
            <a:srgbClr val="EFEEEC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16" name="Text 16"/>
          <p:cNvSpPr txBox="1"/>
          <p:nvPr/>
        </p:nvSpPr>
        <p:spPr>
          <a:xfrm>
            <a:off x="812800" y="2476500"/>
            <a:ext cx="1991360" cy="877824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EXECUTIVAS DE CONTA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 · Latam · LRSA · Conteúdo</a:t>
            </a:r>
            <a:endParaRPr lang="pt-BR" sz="1200" dirty="0"/>
          </a:p>
        </p:txBody>
      </p:sp>
      <p:sp>
        <p:nvSpPr>
          <p:cNvPr id="17" name="Shape 17"/>
          <p:cNvSpPr/>
          <p:nvPr/>
        </p:nvSpPr>
        <p:spPr>
          <a:xfrm>
            <a:off x="812800" y="3417824"/>
            <a:ext cx="1991360" cy="699516"/>
          </a:xfrm>
          <a:prstGeom prst="rect">
            <a:avLst/>
          </a:prstGeom>
          <a:solidFill>
            <a:srgbClr val="EFEEEC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18" name="Text 18"/>
          <p:cNvSpPr txBox="1"/>
          <p:nvPr/>
        </p:nvSpPr>
        <p:spPr>
          <a:xfrm>
            <a:off x="812800" y="3417824"/>
            <a:ext cx="1991360" cy="699516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ASSISTENTE DE CONTA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</a:t>
            </a:r>
            <a:endParaRPr lang="pt-BR" sz="1200" dirty="0"/>
          </a:p>
        </p:txBody>
      </p:sp>
      <p:sp>
        <p:nvSpPr>
          <p:cNvPr id="19" name="Text 19"/>
          <p:cNvSpPr txBox="1"/>
          <p:nvPr/>
        </p:nvSpPr>
        <p:spPr>
          <a:xfrm>
            <a:off x="2956560" y="1981200"/>
            <a:ext cx="1991360" cy="419100"/>
          </a:xfrm>
          <a:prstGeom prst="rect">
            <a:avLst/>
          </a:prstGeom>
          <a:solidFill>
            <a:srgbClr val="B8393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</a:t>
            </a:r>
            <a:endParaRPr lang="pt-BR" sz="1200" dirty="0"/>
          </a:p>
        </p:txBody>
      </p:sp>
      <p:sp>
        <p:nvSpPr>
          <p:cNvPr id="20" name="Shape 20"/>
          <p:cNvSpPr/>
          <p:nvPr/>
        </p:nvSpPr>
        <p:spPr>
          <a:xfrm>
            <a:off x="2956560" y="2476500"/>
            <a:ext cx="1991360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B8393A"/>
            </a:solidFill>
            <a:prstDash val="solid"/>
          </a:ln>
        </p:spPr>
      </p:sp>
      <p:sp>
        <p:nvSpPr>
          <p:cNvPr id="21" name="Text 21"/>
          <p:cNvSpPr txBox="1"/>
          <p:nvPr/>
        </p:nvSpPr>
        <p:spPr>
          <a:xfrm>
            <a:off x="2956560" y="2476500"/>
            <a:ext cx="199136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 FLORES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de planejamento</a:t>
            </a:r>
            <a:endParaRPr lang="pt-BR" sz="1200" dirty="0"/>
          </a:p>
        </p:txBody>
      </p:sp>
      <p:sp>
        <p:nvSpPr>
          <p:cNvPr id="22" name="Shape 22"/>
          <p:cNvSpPr/>
          <p:nvPr/>
        </p:nvSpPr>
        <p:spPr>
          <a:xfrm>
            <a:off x="3952240" y="2997708"/>
            <a:ext cx="0" cy="1524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23" name="Shape 23"/>
          <p:cNvSpPr/>
          <p:nvPr/>
        </p:nvSpPr>
        <p:spPr>
          <a:xfrm>
            <a:off x="2956560" y="3150108"/>
            <a:ext cx="1991360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B8393A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2956560" y="3150108"/>
            <a:ext cx="199136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PAOLA PASCOALE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de planejamento</a:t>
            </a:r>
            <a:endParaRPr lang="pt-BR" sz="1200" dirty="0"/>
          </a:p>
        </p:txBody>
      </p:sp>
      <p:sp>
        <p:nvSpPr>
          <p:cNvPr id="25" name="Shape 25"/>
          <p:cNvSpPr/>
          <p:nvPr/>
        </p:nvSpPr>
        <p:spPr>
          <a:xfrm>
            <a:off x="2956560" y="3734816"/>
            <a:ext cx="1991360" cy="521208"/>
          </a:xfrm>
          <a:prstGeom prst="rect">
            <a:avLst/>
          </a:prstGeom>
          <a:solidFill>
            <a:srgbClr val="EFEEEC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2956560" y="3734816"/>
            <a:ext cx="199136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 PESSOAS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Executivo e assistente</a:t>
            </a:r>
            <a:endParaRPr lang="pt-BR" sz="1200" dirty="0"/>
          </a:p>
        </p:txBody>
      </p:sp>
      <p:sp>
        <p:nvSpPr>
          <p:cNvPr id="27" name="Text 27"/>
          <p:cNvSpPr txBox="1"/>
          <p:nvPr/>
        </p:nvSpPr>
        <p:spPr>
          <a:xfrm>
            <a:off x="5100320" y="1981200"/>
            <a:ext cx="1991360" cy="419100"/>
          </a:xfrm>
          <a:prstGeom prst="rect">
            <a:avLst/>
          </a:prstGeom>
          <a:solidFill>
            <a:srgbClr val="7C272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</a:t>
            </a:r>
            <a:endParaRPr lang="pt-BR" sz="1200" dirty="0"/>
          </a:p>
        </p:txBody>
      </p:sp>
      <p:sp>
        <p:nvSpPr>
          <p:cNvPr id="28" name="Shape 28"/>
          <p:cNvSpPr/>
          <p:nvPr/>
        </p:nvSpPr>
        <p:spPr>
          <a:xfrm>
            <a:off x="5100320" y="2476500"/>
            <a:ext cx="1991360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7C2722"/>
            </a:solidFill>
            <a:prstDash val="solid"/>
          </a:ln>
        </p:spPr>
      </p:sp>
      <p:sp>
        <p:nvSpPr>
          <p:cNvPr id="29" name="Text 29"/>
          <p:cNvSpPr txBox="1"/>
          <p:nvPr/>
        </p:nvSpPr>
        <p:spPr>
          <a:xfrm>
            <a:off x="5100320" y="2476500"/>
            <a:ext cx="199136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SIMONE MAGON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Diretora de mídia</a:t>
            </a:r>
            <a:endParaRPr lang="pt-BR" sz="1200" dirty="0"/>
          </a:p>
        </p:txBody>
      </p:sp>
      <p:sp>
        <p:nvSpPr>
          <p:cNvPr id="30" name="Shape 30"/>
          <p:cNvSpPr/>
          <p:nvPr/>
        </p:nvSpPr>
        <p:spPr>
          <a:xfrm>
            <a:off x="6096000" y="2997708"/>
            <a:ext cx="0" cy="1524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31" name="Shape 31"/>
          <p:cNvSpPr/>
          <p:nvPr/>
        </p:nvSpPr>
        <p:spPr>
          <a:xfrm>
            <a:off x="5100320" y="3150108"/>
            <a:ext cx="1991360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7C2722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5100320" y="3150108"/>
            <a:ext cx="199136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PALOMA KUSSLER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de mídia</a:t>
            </a:r>
            <a:endParaRPr lang="pt-BR" sz="1200" dirty="0"/>
          </a:p>
        </p:txBody>
      </p:sp>
      <p:sp>
        <p:nvSpPr>
          <p:cNvPr id="33" name="Shape 33"/>
          <p:cNvSpPr/>
          <p:nvPr/>
        </p:nvSpPr>
        <p:spPr>
          <a:xfrm>
            <a:off x="5100320" y="3734816"/>
            <a:ext cx="1991360" cy="521208"/>
          </a:xfrm>
          <a:prstGeom prst="rect">
            <a:avLst/>
          </a:prstGeom>
          <a:solidFill>
            <a:srgbClr val="EFEEEC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5100320" y="3734816"/>
            <a:ext cx="199136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 PESSOAS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de mídia</a:t>
            </a:r>
            <a:endParaRPr lang="pt-BR" sz="1200" dirty="0"/>
          </a:p>
        </p:txBody>
      </p:sp>
      <p:sp>
        <p:nvSpPr>
          <p:cNvPr id="35" name="Text 35"/>
          <p:cNvSpPr txBox="1"/>
          <p:nvPr/>
        </p:nvSpPr>
        <p:spPr>
          <a:xfrm>
            <a:off x="7244080" y="1981200"/>
            <a:ext cx="1991360" cy="419100"/>
          </a:xfrm>
          <a:prstGeom prst="rect">
            <a:avLst/>
          </a:prstGeom>
          <a:solidFill>
            <a:srgbClr val="14141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E CRM</a:t>
            </a:r>
            <a:endParaRPr lang="pt-BR" sz="1200" dirty="0"/>
          </a:p>
        </p:txBody>
      </p:sp>
      <p:sp>
        <p:nvSpPr>
          <p:cNvPr id="36" name="Shape 36"/>
          <p:cNvSpPr/>
          <p:nvPr/>
        </p:nvSpPr>
        <p:spPr>
          <a:xfrm>
            <a:off x="7244080" y="2476500"/>
            <a:ext cx="1991360" cy="699516"/>
          </a:xfrm>
          <a:prstGeom prst="rect">
            <a:avLst/>
          </a:prstGeom>
          <a:solidFill>
            <a:srgbClr val="FFFFFF"/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37" name="Text 37"/>
          <p:cNvSpPr txBox="1"/>
          <p:nvPr/>
        </p:nvSpPr>
        <p:spPr>
          <a:xfrm>
            <a:off x="7244080" y="2476500"/>
            <a:ext cx="1991360" cy="699516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DINIZ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Diretor de analytics e CRM</a:t>
            </a:r>
            <a:endParaRPr lang="pt-BR" sz="1200" dirty="0"/>
          </a:p>
        </p:txBody>
      </p:sp>
      <p:sp>
        <p:nvSpPr>
          <p:cNvPr id="38" name="Shape 38"/>
          <p:cNvSpPr/>
          <p:nvPr/>
        </p:nvSpPr>
        <p:spPr>
          <a:xfrm>
            <a:off x="8239760" y="3176016"/>
            <a:ext cx="0" cy="1524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39" name="Shape 39"/>
          <p:cNvSpPr/>
          <p:nvPr/>
        </p:nvSpPr>
        <p:spPr>
          <a:xfrm>
            <a:off x="7244080" y="3328416"/>
            <a:ext cx="1991360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40" name="Text 40"/>
          <p:cNvSpPr txBox="1"/>
          <p:nvPr/>
        </p:nvSpPr>
        <p:spPr>
          <a:xfrm>
            <a:off x="7244080" y="3328416"/>
            <a:ext cx="199136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JOÃO MALOSSI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de BI</a:t>
            </a:r>
            <a:endParaRPr lang="pt-BR" sz="1200" dirty="0"/>
          </a:p>
        </p:txBody>
      </p:sp>
      <p:sp>
        <p:nvSpPr>
          <p:cNvPr id="41" name="Shape 41"/>
          <p:cNvSpPr/>
          <p:nvPr/>
        </p:nvSpPr>
        <p:spPr>
          <a:xfrm>
            <a:off x="7244080" y="3913124"/>
            <a:ext cx="1991360" cy="521208"/>
          </a:xfrm>
          <a:prstGeom prst="rect">
            <a:avLst/>
          </a:prstGeom>
          <a:solidFill>
            <a:srgbClr val="EFEEEC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42" name="Text 42"/>
          <p:cNvSpPr txBox="1"/>
          <p:nvPr/>
        </p:nvSpPr>
        <p:spPr>
          <a:xfrm>
            <a:off x="7244080" y="3913124"/>
            <a:ext cx="199136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 PESSOAS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BI, analytics e dados</a:t>
            </a:r>
            <a:endParaRPr lang="pt-BR" sz="1200" dirty="0"/>
          </a:p>
        </p:txBody>
      </p:sp>
      <p:sp>
        <p:nvSpPr>
          <p:cNvPr id="43" name="Text 43"/>
          <p:cNvSpPr txBox="1"/>
          <p:nvPr/>
        </p:nvSpPr>
        <p:spPr>
          <a:xfrm>
            <a:off x="9387840" y="1981200"/>
            <a:ext cx="1991360" cy="419100"/>
          </a:xfrm>
          <a:prstGeom prst="rect">
            <a:avLst/>
          </a:prstGeom>
          <a:solidFill>
            <a:srgbClr val="EC6A3B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E CONTEÚDO</a:t>
            </a:r>
            <a:endParaRPr lang="pt-BR" sz="1200" dirty="0"/>
          </a:p>
        </p:txBody>
      </p:sp>
      <p:sp>
        <p:nvSpPr>
          <p:cNvPr id="44" name="Shape 44"/>
          <p:cNvSpPr/>
          <p:nvPr/>
        </p:nvSpPr>
        <p:spPr>
          <a:xfrm>
            <a:off x="9387840" y="2476500"/>
            <a:ext cx="1991360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solid"/>
          </a:ln>
        </p:spPr>
      </p:sp>
      <p:sp>
        <p:nvSpPr>
          <p:cNvPr id="45" name="Text 45"/>
          <p:cNvSpPr txBox="1"/>
          <p:nvPr/>
        </p:nvSpPr>
        <p:spPr>
          <a:xfrm>
            <a:off x="9387840" y="2476500"/>
            <a:ext cx="199136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RODRIGO PINTO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de criação</a:t>
            </a:r>
            <a:endParaRPr lang="pt-BR" sz="1200" dirty="0"/>
          </a:p>
        </p:txBody>
      </p:sp>
      <p:sp>
        <p:nvSpPr>
          <p:cNvPr id="46" name="Shape 46"/>
          <p:cNvSpPr/>
          <p:nvPr/>
        </p:nvSpPr>
        <p:spPr>
          <a:xfrm>
            <a:off x="10383520" y="2997708"/>
            <a:ext cx="0" cy="1524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47" name="Shape 47"/>
          <p:cNvSpPr/>
          <p:nvPr/>
        </p:nvSpPr>
        <p:spPr>
          <a:xfrm>
            <a:off x="9387840" y="3150108"/>
            <a:ext cx="1991360" cy="699516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solid"/>
          </a:ln>
        </p:spPr>
      </p:sp>
      <p:sp>
        <p:nvSpPr>
          <p:cNvPr id="48" name="Text 48"/>
          <p:cNvSpPr txBox="1"/>
          <p:nvPr/>
        </p:nvSpPr>
        <p:spPr>
          <a:xfrm>
            <a:off x="9387840" y="3150108"/>
            <a:ext cx="1991360" cy="699516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DEH BASTOS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Diretora de criação e conteúdo</a:t>
            </a:r>
            <a:endParaRPr lang="pt-BR" sz="1200" dirty="0"/>
          </a:p>
        </p:txBody>
      </p:sp>
      <p:sp>
        <p:nvSpPr>
          <p:cNvPr id="49" name="Shape 49"/>
          <p:cNvSpPr/>
          <p:nvPr/>
        </p:nvSpPr>
        <p:spPr>
          <a:xfrm>
            <a:off x="9387840" y="3913124"/>
            <a:ext cx="1991360" cy="699516"/>
          </a:xfrm>
          <a:prstGeom prst="rect">
            <a:avLst/>
          </a:prstGeom>
          <a:solidFill>
            <a:srgbClr val="EFEEEC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50" name="Text 50"/>
          <p:cNvSpPr txBox="1"/>
          <p:nvPr/>
        </p:nvSpPr>
        <p:spPr>
          <a:xfrm>
            <a:off x="9387840" y="3913124"/>
            <a:ext cx="1991360" cy="699516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 PESSOAS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Criação, PDVX e conteúdo</a:t>
            </a:r>
            <a:endParaRPr lang="pt-BR" sz="1200" dirty="0"/>
          </a:p>
        </p:txBody>
      </p:sp>
      <p:sp>
        <p:nvSpPr>
          <p:cNvPr id="51" name="Text 51"/>
          <p:cNvSpPr txBox="1"/>
          <p:nvPr/>
        </p:nvSpPr>
        <p:spPr>
          <a:xfrm>
            <a:off x="9474200" y="63119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 (responde a)</a:t>
            </a:r>
            <a:endParaRPr lang="pt-BR" sz="1200" dirty="0"/>
          </a:p>
        </p:txBody>
      </p:sp>
      <p:sp>
        <p:nvSpPr>
          <p:cNvPr id="52" name="Shape 52"/>
          <p:cNvSpPr/>
          <p:nvPr/>
        </p:nvSpPr>
        <p:spPr>
          <a:xfrm>
            <a:off x="9042400" y="6426200"/>
            <a:ext cx="3556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53" name="Text 53"/>
          <p:cNvSpPr txBox="1"/>
          <p:nvPr/>
        </p:nvSpPr>
        <p:spPr>
          <a:xfrm>
            <a:off x="812800" y="6311900"/>
            <a:ext cx="792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 pessoas no total · detalhamento por área nos próximos slides</a:t>
            </a:r>
            <a:endParaRPr lang="pt-BR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304800"/>
            <a:ext cx="279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PAIM</a:t>
            </a:r>
            <a:pPr indent="0" marL="0">
              <a:buNone/>
            </a:pPr>
            <a:r>
              <a:rPr lang="en-US" sz="1400" dirty="0">
                <a:solidFill>
                  <a:srgbClr val="EC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CREATORS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9370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time de casa — Organograma time Renner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RENNER · ATENDIMENTO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4169664" y="1168400"/>
            <a:ext cx="3852672" cy="558800"/>
          </a:xfrm>
          <a:prstGeom prst="rect">
            <a:avLst/>
          </a:prstGeom>
          <a:solidFill>
            <a:srgbClr val="EC6A3B"/>
          </a:solidFill>
          <a:ln/>
        </p:spPr>
      </p:sp>
      <p:sp>
        <p:nvSpPr>
          <p:cNvPr id="6" name="Text 6"/>
          <p:cNvSpPr txBox="1"/>
          <p:nvPr/>
        </p:nvSpPr>
        <p:spPr>
          <a:xfrm>
            <a:off x="4169664" y="1168400"/>
            <a:ext cx="3852672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DIREÇÃO DE CONTA · CAROLINE LIMA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Renner BR · Renner Latam · LRSA</a:t>
            </a:r>
            <a:endParaRPr lang="pt-BR" sz="1200" dirty="0"/>
          </a:p>
        </p:txBody>
      </p:sp>
      <p:sp>
        <p:nvSpPr>
          <p:cNvPr id="7" name="Shape 7"/>
          <p:cNvSpPr/>
          <p:nvPr/>
        </p:nvSpPr>
        <p:spPr>
          <a:xfrm>
            <a:off x="6096000" y="17272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8" name="Shape 8"/>
          <p:cNvSpPr/>
          <p:nvPr/>
        </p:nvSpPr>
        <p:spPr>
          <a:xfrm>
            <a:off x="2076450" y="1854200"/>
            <a:ext cx="80391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9" name="Shape 9"/>
          <p:cNvSpPr/>
          <p:nvPr/>
        </p:nvSpPr>
        <p:spPr>
          <a:xfrm>
            <a:off x="2076450" y="18542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0" name="Shape 10"/>
          <p:cNvSpPr/>
          <p:nvPr/>
        </p:nvSpPr>
        <p:spPr>
          <a:xfrm>
            <a:off x="4756150" y="18542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1" name="Shape 11"/>
          <p:cNvSpPr/>
          <p:nvPr/>
        </p:nvSpPr>
        <p:spPr>
          <a:xfrm>
            <a:off x="7435850" y="18542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2" name="Shape 12"/>
          <p:cNvSpPr/>
          <p:nvPr/>
        </p:nvSpPr>
        <p:spPr>
          <a:xfrm>
            <a:off x="10115550" y="18542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3" name="Text 13"/>
          <p:cNvSpPr txBox="1"/>
          <p:nvPr/>
        </p:nvSpPr>
        <p:spPr>
          <a:xfrm>
            <a:off x="812800" y="1981200"/>
            <a:ext cx="2527300" cy="419100"/>
          </a:xfrm>
          <a:prstGeom prst="rect">
            <a:avLst/>
          </a:prstGeom>
          <a:solidFill>
            <a:srgbClr val="5E5E5E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RENNER BR</a:t>
            </a:r>
            <a:endParaRPr lang="pt-BR" sz="1600" dirty="0"/>
          </a:p>
        </p:txBody>
      </p:sp>
      <p:sp>
        <p:nvSpPr>
          <p:cNvPr id="14" name="Shape 14"/>
          <p:cNvSpPr/>
          <p:nvPr/>
        </p:nvSpPr>
        <p:spPr>
          <a:xfrm>
            <a:off x="812800" y="2476500"/>
            <a:ext cx="25273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15" name="Text 15"/>
          <p:cNvSpPr txBox="1"/>
          <p:nvPr/>
        </p:nvSpPr>
        <p:spPr>
          <a:xfrm>
            <a:off x="812800" y="2476500"/>
            <a:ext cx="252730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 ZENKER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Executiva de conta · BR</a:t>
            </a:r>
            <a:endParaRPr lang="pt-BR" sz="1200" dirty="0"/>
          </a:p>
        </p:txBody>
      </p:sp>
      <p:sp>
        <p:nvSpPr>
          <p:cNvPr id="16" name="Shape 16"/>
          <p:cNvSpPr/>
          <p:nvPr/>
        </p:nvSpPr>
        <p:spPr>
          <a:xfrm>
            <a:off x="812800" y="3061208"/>
            <a:ext cx="25273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17" name="Text 17"/>
          <p:cNvSpPr txBox="1"/>
          <p:nvPr/>
        </p:nvSpPr>
        <p:spPr>
          <a:xfrm>
            <a:off x="812800" y="3061208"/>
            <a:ext cx="252730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RUTE SCHMITZ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Executiva de conta · BR</a:t>
            </a:r>
            <a:endParaRPr lang="pt-BR" sz="1200" dirty="0"/>
          </a:p>
        </p:txBody>
      </p:sp>
      <p:sp>
        <p:nvSpPr>
          <p:cNvPr id="18" name="Shape 18"/>
          <p:cNvSpPr/>
          <p:nvPr/>
        </p:nvSpPr>
        <p:spPr>
          <a:xfrm>
            <a:off x="812800" y="3645916"/>
            <a:ext cx="25273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19" name="Text 19"/>
          <p:cNvSpPr txBox="1"/>
          <p:nvPr/>
        </p:nvSpPr>
        <p:spPr>
          <a:xfrm>
            <a:off x="812800" y="3645916"/>
            <a:ext cx="252730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AMANDA SANTOS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Executiva de conta · BR</a:t>
            </a:r>
            <a:endParaRPr lang="pt-BR" sz="1200" dirty="0"/>
          </a:p>
        </p:txBody>
      </p:sp>
      <p:sp>
        <p:nvSpPr>
          <p:cNvPr id="20" name="Shape 20"/>
          <p:cNvSpPr/>
          <p:nvPr/>
        </p:nvSpPr>
        <p:spPr>
          <a:xfrm>
            <a:off x="812800" y="4230624"/>
            <a:ext cx="2527300" cy="6995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1" name="Text 21"/>
          <p:cNvSpPr txBox="1"/>
          <p:nvPr/>
        </p:nvSpPr>
        <p:spPr>
          <a:xfrm>
            <a:off x="812800" y="4230624"/>
            <a:ext cx="2527300" cy="699516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BRUNA FLORES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Executiva de conta · BR · Latam</a:t>
            </a:r>
            <a:endParaRPr lang="pt-BR" sz="1200" dirty="0"/>
          </a:p>
        </p:txBody>
      </p:sp>
      <p:sp>
        <p:nvSpPr>
          <p:cNvPr id="22" name="Text 22"/>
          <p:cNvSpPr txBox="1"/>
          <p:nvPr/>
        </p:nvSpPr>
        <p:spPr>
          <a:xfrm>
            <a:off x="3492500" y="1981200"/>
            <a:ext cx="2527300" cy="419100"/>
          </a:xfrm>
          <a:prstGeom prst="rect">
            <a:avLst/>
          </a:prstGeom>
          <a:solidFill>
            <a:srgbClr val="5E5E5E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RENNER LATAM</a:t>
            </a:r>
            <a:endParaRPr lang="pt-BR" sz="1600" dirty="0"/>
          </a:p>
        </p:txBody>
      </p:sp>
      <p:sp>
        <p:nvSpPr>
          <p:cNvPr id="23" name="Shape 23"/>
          <p:cNvSpPr/>
          <p:nvPr/>
        </p:nvSpPr>
        <p:spPr>
          <a:xfrm>
            <a:off x="3492500" y="2476500"/>
            <a:ext cx="25273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3492500" y="2476500"/>
            <a:ext cx="252730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DESIREE SEIXAS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Executiva de conta · Latam</a:t>
            </a:r>
            <a:endParaRPr lang="pt-BR" sz="1200" dirty="0"/>
          </a:p>
        </p:txBody>
      </p:sp>
      <p:sp>
        <p:nvSpPr>
          <p:cNvPr id="25" name="Text 25"/>
          <p:cNvSpPr txBox="1"/>
          <p:nvPr/>
        </p:nvSpPr>
        <p:spPr>
          <a:xfrm>
            <a:off x="6172200" y="1981200"/>
            <a:ext cx="2527300" cy="419100"/>
          </a:xfrm>
          <a:prstGeom prst="rect">
            <a:avLst/>
          </a:prstGeom>
          <a:solidFill>
            <a:srgbClr val="5E5E5E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LRSA</a:t>
            </a:r>
            <a:endParaRPr lang="pt-BR" sz="1600" dirty="0"/>
          </a:p>
        </p:txBody>
      </p:sp>
      <p:sp>
        <p:nvSpPr>
          <p:cNvPr id="26" name="Shape 26"/>
          <p:cNvSpPr/>
          <p:nvPr/>
        </p:nvSpPr>
        <p:spPr>
          <a:xfrm>
            <a:off x="6172200" y="2476500"/>
            <a:ext cx="25273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6172200" y="2476500"/>
            <a:ext cx="252730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CAROLINE TRILHA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Executiva de conta · LRSA</a:t>
            </a:r>
            <a:endParaRPr lang="pt-BR" sz="1200" dirty="0"/>
          </a:p>
        </p:txBody>
      </p:sp>
      <p:sp>
        <p:nvSpPr>
          <p:cNvPr id="28" name="Text 28"/>
          <p:cNvSpPr txBox="1"/>
          <p:nvPr/>
        </p:nvSpPr>
        <p:spPr>
          <a:xfrm>
            <a:off x="8851900" y="1981200"/>
            <a:ext cx="2527300" cy="419100"/>
          </a:xfrm>
          <a:prstGeom prst="rect">
            <a:avLst/>
          </a:prstGeom>
          <a:solidFill>
            <a:srgbClr val="5E5E5E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</a:t>
            </a:r>
            <a:endParaRPr lang="pt-BR" sz="1600" dirty="0"/>
          </a:p>
        </p:txBody>
      </p:sp>
      <p:sp>
        <p:nvSpPr>
          <p:cNvPr id="29" name="Shape 29"/>
          <p:cNvSpPr/>
          <p:nvPr/>
        </p:nvSpPr>
        <p:spPr>
          <a:xfrm>
            <a:off x="8851900" y="2476500"/>
            <a:ext cx="2527300" cy="6995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8851900" y="2476500"/>
            <a:ext cx="2527300" cy="699516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BRUNA BECKO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Executiva de conta · Conteúdo BR · Latam</a:t>
            </a:r>
            <a:endParaRPr lang="pt-BR" sz="1200" dirty="0"/>
          </a:p>
        </p:txBody>
      </p:sp>
      <p:sp>
        <p:nvSpPr>
          <p:cNvPr id="31" name="Shape 31"/>
          <p:cNvSpPr/>
          <p:nvPr/>
        </p:nvSpPr>
        <p:spPr>
          <a:xfrm>
            <a:off x="8851900" y="3239516"/>
            <a:ext cx="2527300" cy="6995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8851900" y="3239516"/>
            <a:ext cx="2527300" cy="699516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MARINA CASAGRANDE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Assistente de conta · Conteúdo BR · Latam</a:t>
            </a:r>
            <a:endParaRPr lang="pt-BR" sz="1200" dirty="0"/>
          </a:p>
        </p:txBody>
      </p:sp>
      <p:sp>
        <p:nvSpPr>
          <p:cNvPr id="33" name="Text 33"/>
          <p:cNvSpPr txBox="1"/>
          <p:nvPr/>
        </p:nvSpPr>
        <p:spPr>
          <a:xfrm>
            <a:off x="9474200" y="63119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 (responde a)</a:t>
            </a:r>
            <a:endParaRPr lang="pt-BR" sz="1200" dirty="0"/>
          </a:p>
        </p:txBody>
      </p:sp>
      <p:sp>
        <p:nvSpPr>
          <p:cNvPr id="34" name="Shape 34"/>
          <p:cNvSpPr/>
          <p:nvPr/>
        </p:nvSpPr>
        <p:spPr>
          <a:xfrm>
            <a:off x="9042400" y="6426200"/>
            <a:ext cx="3556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35" name="Text 35"/>
          <p:cNvSpPr txBox="1"/>
          <p:nvPr/>
        </p:nvSpPr>
        <p:spPr>
          <a:xfrm>
            <a:off x="812800" y="6311900"/>
            <a:ext cx="792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Após o cargo: frentes de atuação (Renner BR, Renner Latam, LRSA, Conteúdo)</a:t>
            </a:r>
            <a:endParaRPr lang="pt-BR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304800"/>
            <a:ext cx="279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PAIM</a:t>
            </a:r>
            <a:pPr indent="0" marL="0">
              <a:buNone/>
            </a:pPr>
            <a:r>
              <a:rPr lang="en-US" sz="1400" dirty="0">
                <a:solidFill>
                  <a:srgbClr val="EC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CREATORS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9370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time de casa — Organograma time Renner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RENNER · PLANEJAMENTO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4006215" y="1168400"/>
            <a:ext cx="4179570" cy="558800"/>
          </a:xfrm>
          <a:prstGeom prst="rect">
            <a:avLst/>
          </a:prstGeom>
          <a:solidFill>
            <a:srgbClr val="EC6A3B"/>
          </a:solidFill>
          <a:ln/>
        </p:spPr>
      </p:sp>
      <p:sp>
        <p:nvSpPr>
          <p:cNvPr id="6" name="Text 6"/>
          <p:cNvSpPr txBox="1"/>
          <p:nvPr/>
        </p:nvSpPr>
        <p:spPr>
          <a:xfrm>
            <a:off x="4006215" y="1168400"/>
            <a:ext cx="417957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DE PLANEJAMENTO · EDUARDO FLORES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Renner BR · Renner Latam · LRSA</a:t>
            </a:r>
            <a:endParaRPr lang="pt-BR" sz="1200" dirty="0"/>
          </a:p>
        </p:txBody>
      </p:sp>
      <p:sp>
        <p:nvSpPr>
          <p:cNvPr id="7" name="Shape 7"/>
          <p:cNvSpPr/>
          <p:nvPr/>
        </p:nvSpPr>
        <p:spPr>
          <a:xfrm>
            <a:off x="6096000" y="1727200"/>
            <a:ext cx="0" cy="1016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8" name="Shape 8"/>
          <p:cNvSpPr/>
          <p:nvPr/>
        </p:nvSpPr>
        <p:spPr>
          <a:xfrm>
            <a:off x="4328160" y="1828800"/>
            <a:ext cx="3535680" cy="558800"/>
          </a:xfrm>
          <a:prstGeom prst="rect">
            <a:avLst/>
          </a:prstGeom>
          <a:solidFill>
            <a:srgbClr val="EFEEEC"/>
          </a:solidFill>
          <a:ln/>
        </p:spPr>
      </p:sp>
      <p:sp>
        <p:nvSpPr>
          <p:cNvPr id="9" name="Text 9"/>
          <p:cNvSpPr txBox="1"/>
          <p:nvPr/>
        </p:nvSpPr>
        <p:spPr>
          <a:xfrm>
            <a:off x="4328160" y="1828800"/>
            <a:ext cx="353568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PAOLA PASCOALE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de planejamento · BR · Latam · LRSA</a:t>
            </a:r>
            <a:endParaRPr lang="pt-BR" sz="1200" dirty="0"/>
          </a:p>
        </p:txBody>
      </p:sp>
      <p:sp>
        <p:nvSpPr>
          <p:cNvPr id="10" name="Shape 10"/>
          <p:cNvSpPr/>
          <p:nvPr/>
        </p:nvSpPr>
        <p:spPr>
          <a:xfrm>
            <a:off x="6096000" y="2387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1" name="Shape 11"/>
          <p:cNvSpPr/>
          <p:nvPr/>
        </p:nvSpPr>
        <p:spPr>
          <a:xfrm>
            <a:off x="6096000" y="2514600"/>
            <a:ext cx="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2" name="Shape 12"/>
          <p:cNvSpPr/>
          <p:nvPr/>
        </p:nvSpPr>
        <p:spPr>
          <a:xfrm>
            <a:off x="609600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3" name="Text 13"/>
          <p:cNvSpPr txBox="1"/>
          <p:nvPr/>
        </p:nvSpPr>
        <p:spPr>
          <a:xfrm>
            <a:off x="2926080" y="2641600"/>
            <a:ext cx="6339840" cy="419100"/>
          </a:xfrm>
          <a:prstGeom prst="rect">
            <a:avLst/>
          </a:prstGeom>
          <a:solidFill>
            <a:srgbClr val="B8393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</a:t>
            </a:r>
            <a:endParaRPr lang="pt-BR" sz="1600" dirty="0"/>
          </a:p>
        </p:txBody>
      </p:sp>
      <p:sp>
        <p:nvSpPr>
          <p:cNvPr id="14" name="Shape 14"/>
          <p:cNvSpPr/>
          <p:nvPr/>
        </p:nvSpPr>
        <p:spPr>
          <a:xfrm>
            <a:off x="2926080" y="3136900"/>
            <a:ext cx="3131820" cy="6995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15" name="Text 15"/>
          <p:cNvSpPr txBox="1"/>
          <p:nvPr/>
        </p:nvSpPr>
        <p:spPr>
          <a:xfrm>
            <a:off x="2926080" y="3136900"/>
            <a:ext cx="3131820" cy="699516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ENIO XAVIER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Executivo de planejamento · BR · Latam · LRSA</a:t>
            </a:r>
            <a:endParaRPr lang="pt-BR" sz="1200" dirty="0"/>
          </a:p>
        </p:txBody>
      </p:sp>
      <p:sp>
        <p:nvSpPr>
          <p:cNvPr id="16" name="Shape 16"/>
          <p:cNvSpPr/>
          <p:nvPr/>
        </p:nvSpPr>
        <p:spPr>
          <a:xfrm>
            <a:off x="6134100" y="3136900"/>
            <a:ext cx="3131820" cy="6995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17" name="Text 17"/>
          <p:cNvSpPr txBox="1"/>
          <p:nvPr/>
        </p:nvSpPr>
        <p:spPr>
          <a:xfrm>
            <a:off x="6134100" y="3136900"/>
            <a:ext cx="3131820" cy="699516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LUIZA MENEZES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Assistente de planejamento · BR · Latam · LRSA</a:t>
            </a:r>
            <a:endParaRPr lang="pt-BR" sz="1200" dirty="0"/>
          </a:p>
        </p:txBody>
      </p:sp>
      <p:sp>
        <p:nvSpPr>
          <p:cNvPr id="18" name="Text 18"/>
          <p:cNvSpPr txBox="1"/>
          <p:nvPr/>
        </p:nvSpPr>
        <p:spPr>
          <a:xfrm>
            <a:off x="9474200" y="63119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 (responde a)</a:t>
            </a:r>
            <a:endParaRPr lang="pt-BR" sz="1200" dirty="0"/>
          </a:p>
        </p:txBody>
      </p:sp>
      <p:sp>
        <p:nvSpPr>
          <p:cNvPr id="19" name="Shape 19"/>
          <p:cNvSpPr/>
          <p:nvPr/>
        </p:nvSpPr>
        <p:spPr>
          <a:xfrm>
            <a:off x="9042400" y="6426200"/>
            <a:ext cx="3556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20" name="Text 20"/>
          <p:cNvSpPr txBox="1"/>
          <p:nvPr/>
        </p:nvSpPr>
        <p:spPr>
          <a:xfrm>
            <a:off x="812800" y="6311900"/>
            <a:ext cx="792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Após o cargo: frentes de atuação (Renner BR, Renner Latam, LRSA, Conteúdo)</a:t>
            </a:r>
            <a:endParaRPr lang="pt-BR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304800"/>
            <a:ext cx="279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PAIM</a:t>
            </a:r>
            <a:pPr indent="0" marL="0">
              <a:buNone/>
            </a:pPr>
            <a:r>
              <a:rPr lang="en-US" sz="1400" dirty="0">
                <a:solidFill>
                  <a:srgbClr val="EC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CREATORS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9370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time de casa — Organograma time Renner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RENNER · MÍDIA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4224147" y="1168400"/>
            <a:ext cx="3743706" cy="558800"/>
          </a:xfrm>
          <a:prstGeom prst="rect">
            <a:avLst/>
          </a:prstGeom>
          <a:solidFill>
            <a:srgbClr val="EC6A3B"/>
          </a:solidFill>
          <a:ln/>
        </p:spPr>
      </p:sp>
      <p:sp>
        <p:nvSpPr>
          <p:cNvPr id="6" name="Text 6"/>
          <p:cNvSpPr txBox="1"/>
          <p:nvPr/>
        </p:nvSpPr>
        <p:spPr>
          <a:xfrm>
            <a:off x="4224147" y="1168400"/>
            <a:ext cx="3743706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DIREÇÃO DE MÍDIA · SIMONE MAGON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Renner BR · Renner Latam · LRSA</a:t>
            </a:r>
            <a:endParaRPr lang="pt-BR" sz="1200" dirty="0"/>
          </a:p>
        </p:txBody>
      </p:sp>
      <p:sp>
        <p:nvSpPr>
          <p:cNvPr id="7" name="Shape 7"/>
          <p:cNvSpPr/>
          <p:nvPr/>
        </p:nvSpPr>
        <p:spPr>
          <a:xfrm>
            <a:off x="6096000" y="1727200"/>
            <a:ext cx="0" cy="1016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8" name="Shape 8"/>
          <p:cNvSpPr/>
          <p:nvPr/>
        </p:nvSpPr>
        <p:spPr>
          <a:xfrm>
            <a:off x="4445000" y="1828800"/>
            <a:ext cx="3302000" cy="558800"/>
          </a:xfrm>
          <a:prstGeom prst="rect">
            <a:avLst/>
          </a:prstGeom>
          <a:solidFill>
            <a:srgbClr val="EFEEEC"/>
          </a:solidFill>
          <a:ln/>
        </p:spPr>
      </p:sp>
      <p:sp>
        <p:nvSpPr>
          <p:cNvPr id="9" name="Text 9"/>
          <p:cNvSpPr txBox="1"/>
          <p:nvPr/>
        </p:nvSpPr>
        <p:spPr>
          <a:xfrm>
            <a:off x="4445000" y="18288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PALOMA KUSSLER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de mídia · toda a frente digital</a:t>
            </a:r>
            <a:endParaRPr lang="pt-BR" sz="1200" dirty="0"/>
          </a:p>
        </p:txBody>
      </p:sp>
      <p:sp>
        <p:nvSpPr>
          <p:cNvPr id="10" name="Shape 10"/>
          <p:cNvSpPr/>
          <p:nvPr/>
        </p:nvSpPr>
        <p:spPr>
          <a:xfrm>
            <a:off x="6096000" y="2387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1" name="Shape 11"/>
          <p:cNvSpPr/>
          <p:nvPr/>
        </p:nvSpPr>
        <p:spPr>
          <a:xfrm>
            <a:off x="6096000" y="2514600"/>
            <a:ext cx="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2" name="Shape 12"/>
          <p:cNvSpPr/>
          <p:nvPr/>
        </p:nvSpPr>
        <p:spPr>
          <a:xfrm>
            <a:off x="609600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3" name="Text 13"/>
          <p:cNvSpPr txBox="1"/>
          <p:nvPr/>
        </p:nvSpPr>
        <p:spPr>
          <a:xfrm>
            <a:off x="812800" y="2641600"/>
            <a:ext cx="10566400" cy="419100"/>
          </a:xfrm>
          <a:prstGeom prst="rect">
            <a:avLst/>
          </a:prstGeom>
          <a:solidFill>
            <a:srgbClr val="7C272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DE MÍDIA</a:t>
            </a:r>
            <a:endParaRPr lang="pt-BR" sz="1600" dirty="0"/>
          </a:p>
        </p:txBody>
      </p:sp>
      <p:sp>
        <p:nvSpPr>
          <p:cNvPr id="14" name="Shape 14"/>
          <p:cNvSpPr/>
          <p:nvPr/>
        </p:nvSpPr>
        <p:spPr>
          <a:xfrm>
            <a:off x="812800" y="3136900"/>
            <a:ext cx="3471333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15" name="Text 15"/>
          <p:cNvSpPr txBox="1"/>
          <p:nvPr/>
        </p:nvSpPr>
        <p:spPr>
          <a:xfrm>
            <a:off x="812800" y="3136900"/>
            <a:ext cx="3471333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LEANDRO FREITAS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Planejador de mídia · BR</a:t>
            </a:r>
            <a:endParaRPr lang="pt-BR" sz="1200" dirty="0"/>
          </a:p>
        </p:txBody>
      </p:sp>
      <p:sp>
        <p:nvSpPr>
          <p:cNvPr id="16" name="Shape 16"/>
          <p:cNvSpPr/>
          <p:nvPr/>
        </p:nvSpPr>
        <p:spPr>
          <a:xfrm>
            <a:off x="4360333" y="3136900"/>
            <a:ext cx="3471333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17" name="Text 17"/>
          <p:cNvSpPr txBox="1"/>
          <p:nvPr/>
        </p:nvSpPr>
        <p:spPr>
          <a:xfrm>
            <a:off x="4360333" y="3136900"/>
            <a:ext cx="3471333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GABRIEL SOARES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Planejador de mídia · BR</a:t>
            </a:r>
            <a:endParaRPr lang="pt-BR" sz="1200" dirty="0"/>
          </a:p>
        </p:txBody>
      </p:sp>
      <p:sp>
        <p:nvSpPr>
          <p:cNvPr id="18" name="Shape 18"/>
          <p:cNvSpPr/>
          <p:nvPr/>
        </p:nvSpPr>
        <p:spPr>
          <a:xfrm>
            <a:off x="7907866" y="3136900"/>
            <a:ext cx="3471333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19" name="Text 19"/>
          <p:cNvSpPr txBox="1"/>
          <p:nvPr/>
        </p:nvSpPr>
        <p:spPr>
          <a:xfrm>
            <a:off x="7907866" y="3136900"/>
            <a:ext cx="3471333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JULYE ALMEIDA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Planejadora de mídia · BR</a:t>
            </a:r>
            <a:endParaRPr lang="pt-BR" sz="1200" dirty="0"/>
          </a:p>
        </p:txBody>
      </p:sp>
      <p:sp>
        <p:nvSpPr>
          <p:cNvPr id="20" name="Shape 20"/>
          <p:cNvSpPr/>
          <p:nvPr/>
        </p:nvSpPr>
        <p:spPr>
          <a:xfrm>
            <a:off x="812800" y="3721608"/>
            <a:ext cx="3471333" cy="6995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1" name="Text 21"/>
          <p:cNvSpPr txBox="1"/>
          <p:nvPr/>
        </p:nvSpPr>
        <p:spPr>
          <a:xfrm>
            <a:off x="812800" y="3721608"/>
            <a:ext cx="3471333" cy="699516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FERNANDA AZEVEDO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Planejadora de mídia · BR · Latam</a:t>
            </a:r>
            <a:endParaRPr lang="pt-BR" sz="1200" dirty="0"/>
          </a:p>
        </p:txBody>
      </p:sp>
      <p:sp>
        <p:nvSpPr>
          <p:cNvPr id="22" name="Shape 22"/>
          <p:cNvSpPr/>
          <p:nvPr/>
        </p:nvSpPr>
        <p:spPr>
          <a:xfrm>
            <a:off x="4360333" y="3721608"/>
            <a:ext cx="3471333" cy="6995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3" name="Text 23"/>
          <p:cNvSpPr txBox="1"/>
          <p:nvPr/>
        </p:nvSpPr>
        <p:spPr>
          <a:xfrm>
            <a:off x="4360333" y="3721608"/>
            <a:ext cx="3471333" cy="699516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CARLA AZEVEDO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Planejadora de mídia · toda a frente offline</a:t>
            </a:r>
            <a:endParaRPr lang="pt-BR" sz="1200" dirty="0"/>
          </a:p>
        </p:txBody>
      </p:sp>
      <p:sp>
        <p:nvSpPr>
          <p:cNvPr id="24" name="Text 24"/>
          <p:cNvSpPr txBox="1"/>
          <p:nvPr/>
        </p:nvSpPr>
        <p:spPr>
          <a:xfrm>
            <a:off x="9474200" y="63119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 (responde a)</a:t>
            </a:r>
            <a:endParaRPr lang="pt-BR" sz="1200" dirty="0"/>
          </a:p>
        </p:txBody>
      </p:sp>
      <p:sp>
        <p:nvSpPr>
          <p:cNvPr id="25" name="Shape 25"/>
          <p:cNvSpPr/>
          <p:nvPr/>
        </p:nvSpPr>
        <p:spPr>
          <a:xfrm>
            <a:off x="9042400" y="6426200"/>
            <a:ext cx="3556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812800" y="6311900"/>
            <a:ext cx="792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Após o cargo: frentes de atuação (Renner BR, Renner Latam, LRSA, Conteúdo)</a:t>
            </a:r>
            <a:endParaRPr lang="pt-BR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304800"/>
            <a:ext cx="279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PAIM</a:t>
            </a:r>
            <a:pPr indent="0" marL="0">
              <a:buNone/>
            </a:pPr>
            <a:r>
              <a:rPr lang="en-US" sz="1400" dirty="0">
                <a:solidFill>
                  <a:srgbClr val="EC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CREATORS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9370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time de casa — Organograma time Renner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RENNER · ANALYTICS E CRM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3733800" y="1168400"/>
            <a:ext cx="4724400" cy="558800"/>
          </a:xfrm>
          <a:prstGeom prst="rect">
            <a:avLst/>
          </a:prstGeom>
          <a:solidFill>
            <a:srgbClr val="EC6A3B"/>
          </a:solidFill>
          <a:ln/>
        </p:spPr>
      </p:sp>
      <p:sp>
        <p:nvSpPr>
          <p:cNvPr id="6" name="Text 6"/>
          <p:cNvSpPr txBox="1"/>
          <p:nvPr/>
        </p:nvSpPr>
        <p:spPr>
          <a:xfrm>
            <a:off x="3733800" y="1168400"/>
            <a:ext cx="472440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DIREÇÃO DE ANALYTICS E CRM · LUCAS DINIZ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Renner BR · Renner Latam · LRSA</a:t>
            </a:r>
            <a:endParaRPr lang="pt-BR" sz="1200" dirty="0"/>
          </a:p>
        </p:txBody>
      </p:sp>
      <p:sp>
        <p:nvSpPr>
          <p:cNvPr id="7" name="Shape 7"/>
          <p:cNvSpPr/>
          <p:nvPr/>
        </p:nvSpPr>
        <p:spPr>
          <a:xfrm>
            <a:off x="6096000" y="1727200"/>
            <a:ext cx="0" cy="1016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8" name="Shape 8"/>
          <p:cNvSpPr/>
          <p:nvPr/>
        </p:nvSpPr>
        <p:spPr>
          <a:xfrm>
            <a:off x="4445000" y="1828800"/>
            <a:ext cx="3302000" cy="558800"/>
          </a:xfrm>
          <a:prstGeom prst="rect">
            <a:avLst/>
          </a:prstGeom>
          <a:solidFill>
            <a:srgbClr val="EFEEEC"/>
          </a:solidFill>
          <a:ln/>
        </p:spPr>
      </p:sp>
      <p:sp>
        <p:nvSpPr>
          <p:cNvPr id="9" name="Text 9"/>
          <p:cNvSpPr txBox="1"/>
          <p:nvPr/>
        </p:nvSpPr>
        <p:spPr>
          <a:xfrm>
            <a:off x="4445000" y="18288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JOÃO MALOSSI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de BI · BR · Latam</a:t>
            </a:r>
            <a:endParaRPr lang="pt-BR" sz="1200" dirty="0"/>
          </a:p>
        </p:txBody>
      </p:sp>
      <p:sp>
        <p:nvSpPr>
          <p:cNvPr id="10" name="Shape 10"/>
          <p:cNvSpPr/>
          <p:nvPr/>
        </p:nvSpPr>
        <p:spPr>
          <a:xfrm>
            <a:off x="6096000" y="2387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1" name="Shape 11"/>
          <p:cNvSpPr/>
          <p:nvPr/>
        </p:nvSpPr>
        <p:spPr>
          <a:xfrm>
            <a:off x="6096000" y="2514600"/>
            <a:ext cx="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2" name="Shape 12"/>
          <p:cNvSpPr/>
          <p:nvPr/>
        </p:nvSpPr>
        <p:spPr>
          <a:xfrm>
            <a:off x="609600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3" name="Text 13"/>
          <p:cNvSpPr txBox="1"/>
          <p:nvPr/>
        </p:nvSpPr>
        <p:spPr>
          <a:xfrm>
            <a:off x="812800" y="2641600"/>
            <a:ext cx="10566400" cy="419100"/>
          </a:xfrm>
          <a:prstGeom prst="rect">
            <a:avLst/>
          </a:prstGeom>
          <a:solidFill>
            <a:srgbClr val="14141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E ANALYTICS</a:t>
            </a:r>
            <a:endParaRPr lang="pt-BR" sz="1600" dirty="0"/>
          </a:p>
        </p:txBody>
      </p:sp>
      <p:sp>
        <p:nvSpPr>
          <p:cNvPr id="14" name="Shape 14"/>
          <p:cNvSpPr/>
          <p:nvPr/>
        </p:nvSpPr>
        <p:spPr>
          <a:xfrm>
            <a:off x="812800" y="3136900"/>
            <a:ext cx="10566400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15" name="Text 15"/>
          <p:cNvSpPr txBox="1"/>
          <p:nvPr/>
        </p:nvSpPr>
        <p:spPr>
          <a:xfrm>
            <a:off x="812800" y="3136900"/>
            <a:ext cx="1056640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EDUARDA FRIEDRICH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 de BI · BR · Latam · LRSA</a:t>
            </a:r>
            <a:endParaRPr lang="pt-BR" sz="1200" dirty="0"/>
          </a:p>
        </p:txBody>
      </p:sp>
      <p:sp>
        <p:nvSpPr>
          <p:cNvPr id="16" name="Shape 16"/>
          <p:cNvSpPr/>
          <p:nvPr/>
        </p:nvSpPr>
        <p:spPr>
          <a:xfrm>
            <a:off x="812800" y="3721608"/>
            <a:ext cx="3471333" cy="6995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17" name="Text 17"/>
          <p:cNvSpPr txBox="1"/>
          <p:nvPr/>
        </p:nvSpPr>
        <p:spPr>
          <a:xfrm>
            <a:off x="812800" y="3721608"/>
            <a:ext cx="3471333" cy="699516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THAMARA BASTOS OLIVEIRA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 de analytics · BR · Latam · LRSA</a:t>
            </a:r>
            <a:endParaRPr lang="pt-BR" sz="1200" dirty="0"/>
          </a:p>
        </p:txBody>
      </p:sp>
      <p:sp>
        <p:nvSpPr>
          <p:cNvPr id="18" name="Shape 18"/>
          <p:cNvSpPr/>
          <p:nvPr/>
        </p:nvSpPr>
        <p:spPr>
          <a:xfrm>
            <a:off x="4360333" y="3721608"/>
            <a:ext cx="3471333" cy="6995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19" name="Text 19"/>
          <p:cNvSpPr txBox="1"/>
          <p:nvPr/>
        </p:nvSpPr>
        <p:spPr>
          <a:xfrm>
            <a:off x="4360333" y="3721608"/>
            <a:ext cx="3471333" cy="699516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 PEGORARO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Cientista de dados · BR · Latam</a:t>
            </a:r>
            <a:endParaRPr lang="pt-BR" sz="1200" dirty="0"/>
          </a:p>
        </p:txBody>
      </p:sp>
      <p:sp>
        <p:nvSpPr>
          <p:cNvPr id="20" name="Shape 20"/>
          <p:cNvSpPr/>
          <p:nvPr/>
        </p:nvSpPr>
        <p:spPr>
          <a:xfrm>
            <a:off x="7907866" y="3721608"/>
            <a:ext cx="3471333" cy="6995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1" name="Text 21"/>
          <p:cNvSpPr txBox="1"/>
          <p:nvPr/>
        </p:nvSpPr>
        <p:spPr>
          <a:xfrm>
            <a:off x="7907866" y="3721608"/>
            <a:ext cx="3471333" cy="699516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ISABELA CANAL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 de BI · BR · Latam</a:t>
            </a:r>
            <a:endParaRPr lang="pt-BR" sz="1200" dirty="0"/>
          </a:p>
        </p:txBody>
      </p:sp>
      <p:sp>
        <p:nvSpPr>
          <p:cNvPr id="22" name="Shape 22"/>
          <p:cNvSpPr/>
          <p:nvPr/>
        </p:nvSpPr>
        <p:spPr>
          <a:xfrm>
            <a:off x="812800" y="4484624"/>
            <a:ext cx="3471333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3" name="Text 23"/>
          <p:cNvSpPr txBox="1"/>
          <p:nvPr/>
        </p:nvSpPr>
        <p:spPr>
          <a:xfrm>
            <a:off x="812800" y="4484624"/>
            <a:ext cx="3471333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AMANDA OLIVEIRA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 de BI · BR · Latam</a:t>
            </a:r>
            <a:endParaRPr lang="pt-BR" sz="1200" dirty="0"/>
          </a:p>
        </p:txBody>
      </p:sp>
      <p:sp>
        <p:nvSpPr>
          <p:cNvPr id="24" name="Shape 24"/>
          <p:cNvSpPr/>
          <p:nvPr/>
        </p:nvSpPr>
        <p:spPr>
          <a:xfrm>
            <a:off x="4360333" y="4484624"/>
            <a:ext cx="3471333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4360333" y="4484624"/>
            <a:ext cx="3471333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JÚLIA DIAS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Assistente de BI · BR · Latam</a:t>
            </a:r>
            <a:endParaRPr lang="pt-BR" sz="1200" dirty="0"/>
          </a:p>
        </p:txBody>
      </p:sp>
      <p:sp>
        <p:nvSpPr>
          <p:cNvPr id="26" name="Shape 26"/>
          <p:cNvSpPr/>
          <p:nvPr/>
        </p:nvSpPr>
        <p:spPr>
          <a:xfrm>
            <a:off x="7907866" y="4484624"/>
            <a:ext cx="3471333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7907866" y="4484624"/>
            <a:ext cx="3471333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 SCHOTKIS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Assistente de BI · BR · Latam</a:t>
            </a:r>
            <a:endParaRPr lang="pt-BR" sz="1200" dirty="0"/>
          </a:p>
        </p:txBody>
      </p:sp>
      <p:sp>
        <p:nvSpPr>
          <p:cNvPr id="28" name="Text 28"/>
          <p:cNvSpPr txBox="1"/>
          <p:nvPr/>
        </p:nvSpPr>
        <p:spPr>
          <a:xfrm>
            <a:off x="9474200" y="63119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 (responde a)</a:t>
            </a:r>
            <a:endParaRPr lang="pt-BR" sz="1200" dirty="0"/>
          </a:p>
        </p:txBody>
      </p:sp>
      <p:sp>
        <p:nvSpPr>
          <p:cNvPr id="29" name="Shape 29"/>
          <p:cNvSpPr/>
          <p:nvPr/>
        </p:nvSpPr>
        <p:spPr>
          <a:xfrm>
            <a:off x="9042400" y="6426200"/>
            <a:ext cx="3556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812800" y="6311900"/>
            <a:ext cx="792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Após o cargo: frentes de atuação (Renner BR, Renner Latam, LRSA, Conteúdo)</a:t>
            </a:r>
            <a:endParaRPr lang="pt-BR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304800"/>
            <a:ext cx="279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PAIM</a:t>
            </a:r>
            <a:pPr indent="0" marL="0">
              <a:buNone/>
            </a:pPr>
            <a:r>
              <a:rPr lang="en-US" sz="1400" dirty="0">
                <a:solidFill>
                  <a:srgbClr val="EC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CREATORS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9370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time de casa — Organograma time Renner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RENNER · CRIAÇÃO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4333113" y="1168400"/>
            <a:ext cx="3525774" cy="558800"/>
          </a:xfrm>
          <a:prstGeom prst="rect">
            <a:avLst/>
          </a:prstGeom>
          <a:solidFill>
            <a:srgbClr val="EC6A3B"/>
          </a:solidFill>
          <a:ln/>
        </p:spPr>
      </p:sp>
      <p:sp>
        <p:nvSpPr>
          <p:cNvPr id="6" name="Text 6"/>
          <p:cNvSpPr txBox="1"/>
          <p:nvPr/>
        </p:nvSpPr>
        <p:spPr>
          <a:xfrm>
            <a:off x="4333113" y="1168400"/>
            <a:ext cx="3525774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DE CRIAÇÃO · RODRIGO PINTO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 · Latam · LRSA</a:t>
            </a:r>
            <a:endParaRPr lang="pt-BR" sz="1200" dirty="0"/>
          </a:p>
        </p:txBody>
      </p:sp>
      <p:sp>
        <p:nvSpPr>
          <p:cNvPr id="7" name="Shape 7"/>
          <p:cNvSpPr/>
          <p:nvPr/>
        </p:nvSpPr>
        <p:spPr>
          <a:xfrm>
            <a:off x="6096000" y="1727200"/>
            <a:ext cx="0" cy="1016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8" name="Shape 8"/>
          <p:cNvSpPr/>
          <p:nvPr/>
        </p:nvSpPr>
        <p:spPr>
          <a:xfrm>
            <a:off x="3931920" y="1828800"/>
            <a:ext cx="4328160" cy="558800"/>
          </a:xfrm>
          <a:prstGeom prst="rect">
            <a:avLst/>
          </a:prstGeom>
          <a:solidFill>
            <a:srgbClr val="EFEEEC"/>
          </a:solidFill>
          <a:ln/>
        </p:spPr>
      </p:sp>
      <p:sp>
        <p:nvSpPr>
          <p:cNvPr id="9" name="Text 9"/>
          <p:cNvSpPr txBox="1"/>
          <p:nvPr/>
        </p:nvSpPr>
        <p:spPr>
          <a:xfrm>
            <a:off x="3931920" y="1828800"/>
            <a:ext cx="432816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DEH BASTOS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Diretora de criação e conteúdo · BR · Latam · LRSA</a:t>
            </a:r>
            <a:endParaRPr lang="pt-BR" sz="1200" dirty="0"/>
          </a:p>
        </p:txBody>
      </p:sp>
      <p:sp>
        <p:nvSpPr>
          <p:cNvPr id="10" name="Shape 10"/>
          <p:cNvSpPr/>
          <p:nvPr/>
        </p:nvSpPr>
        <p:spPr>
          <a:xfrm>
            <a:off x="6096000" y="2387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1" name="Shape 11"/>
          <p:cNvSpPr/>
          <p:nvPr/>
        </p:nvSpPr>
        <p:spPr>
          <a:xfrm>
            <a:off x="2548466" y="2514600"/>
            <a:ext cx="53594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2" name="Shape 12"/>
          <p:cNvSpPr/>
          <p:nvPr/>
        </p:nvSpPr>
        <p:spPr>
          <a:xfrm>
            <a:off x="2548466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3" name="Shape 13"/>
          <p:cNvSpPr/>
          <p:nvPr/>
        </p:nvSpPr>
        <p:spPr>
          <a:xfrm>
            <a:off x="7907866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4" name="Text 14"/>
          <p:cNvSpPr txBox="1"/>
          <p:nvPr/>
        </p:nvSpPr>
        <p:spPr>
          <a:xfrm>
            <a:off x="812800" y="2641600"/>
            <a:ext cx="3471333" cy="419100"/>
          </a:xfrm>
          <a:prstGeom prst="rect">
            <a:avLst/>
          </a:prstGeom>
          <a:solidFill>
            <a:srgbClr val="14141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PDVX</a:t>
            </a:r>
            <a:endParaRPr lang="pt-BR" sz="1600" dirty="0"/>
          </a:p>
        </p:txBody>
      </p:sp>
      <p:sp>
        <p:nvSpPr>
          <p:cNvPr id="15" name="Shape 15"/>
          <p:cNvSpPr/>
          <p:nvPr/>
        </p:nvSpPr>
        <p:spPr>
          <a:xfrm>
            <a:off x="812800" y="3136900"/>
            <a:ext cx="3471333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16" name="Text 16"/>
          <p:cNvSpPr txBox="1"/>
          <p:nvPr/>
        </p:nvSpPr>
        <p:spPr>
          <a:xfrm>
            <a:off x="812800" y="3136900"/>
            <a:ext cx="3471333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ISMAEL GOLI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de PDVX · BR · Latam</a:t>
            </a:r>
            <a:endParaRPr lang="pt-BR" sz="1200" dirty="0"/>
          </a:p>
        </p:txBody>
      </p:sp>
      <p:sp>
        <p:nvSpPr>
          <p:cNvPr id="17" name="Shape 17"/>
          <p:cNvSpPr/>
          <p:nvPr/>
        </p:nvSpPr>
        <p:spPr>
          <a:xfrm>
            <a:off x="812800" y="3721608"/>
            <a:ext cx="3471333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18" name="Text 18"/>
          <p:cNvSpPr txBox="1"/>
          <p:nvPr/>
        </p:nvSpPr>
        <p:spPr>
          <a:xfrm>
            <a:off x="812800" y="3721608"/>
            <a:ext cx="3471333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BIANCA JANOWSKI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 sênior · BR · Latam</a:t>
            </a:r>
            <a:endParaRPr lang="pt-BR" sz="1200" dirty="0"/>
          </a:p>
        </p:txBody>
      </p:sp>
      <p:sp>
        <p:nvSpPr>
          <p:cNvPr id="19" name="Shape 19"/>
          <p:cNvSpPr/>
          <p:nvPr/>
        </p:nvSpPr>
        <p:spPr>
          <a:xfrm>
            <a:off x="812800" y="4306316"/>
            <a:ext cx="3471333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0" name="Text 20"/>
          <p:cNvSpPr txBox="1"/>
          <p:nvPr/>
        </p:nvSpPr>
        <p:spPr>
          <a:xfrm>
            <a:off x="812800" y="4306316"/>
            <a:ext cx="3471333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JOSÉ PORTELA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 sênior · BR · Latam</a:t>
            </a:r>
            <a:endParaRPr lang="pt-BR" sz="1200" dirty="0"/>
          </a:p>
        </p:txBody>
      </p:sp>
      <p:sp>
        <p:nvSpPr>
          <p:cNvPr id="21" name="Text 21"/>
          <p:cNvSpPr txBox="1"/>
          <p:nvPr/>
        </p:nvSpPr>
        <p:spPr>
          <a:xfrm>
            <a:off x="4436533" y="2641600"/>
            <a:ext cx="6942666" cy="419100"/>
          </a:xfrm>
          <a:prstGeom prst="rect">
            <a:avLst/>
          </a:prstGeom>
          <a:solidFill>
            <a:srgbClr val="EC6A3B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pt-BR" sz="1600" dirty="0"/>
          </a:p>
        </p:txBody>
      </p:sp>
      <p:sp>
        <p:nvSpPr>
          <p:cNvPr id="22" name="Shape 22"/>
          <p:cNvSpPr/>
          <p:nvPr/>
        </p:nvSpPr>
        <p:spPr>
          <a:xfrm>
            <a:off x="4436533" y="3136900"/>
            <a:ext cx="6942666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solid"/>
          </a:ln>
        </p:spPr>
      </p:sp>
      <p:sp>
        <p:nvSpPr>
          <p:cNvPr id="23" name="Text 23"/>
          <p:cNvSpPr txBox="1"/>
          <p:nvPr/>
        </p:nvSpPr>
        <p:spPr>
          <a:xfrm>
            <a:off x="4436533" y="3136900"/>
            <a:ext cx="6942666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RENATA MALINOSK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Gerente de criação · BR · Latam · LRSA</a:t>
            </a:r>
            <a:endParaRPr lang="pt-BR" sz="1200" dirty="0"/>
          </a:p>
        </p:txBody>
      </p:sp>
      <p:sp>
        <p:nvSpPr>
          <p:cNvPr id="24" name="Shape 24"/>
          <p:cNvSpPr/>
          <p:nvPr/>
        </p:nvSpPr>
        <p:spPr>
          <a:xfrm>
            <a:off x="4436533" y="3721608"/>
            <a:ext cx="3433233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4436533" y="3721608"/>
            <a:ext cx="3433233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 CORTELETTI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D.A. sênior · BR · Latam · LRSA</a:t>
            </a:r>
            <a:endParaRPr lang="pt-BR" sz="1200" dirty="0"/>
          </a:p>
        </p:txBody>
      </p:sp>
      <p:sp>
        <p:nvSpPr>
          <p:cNvPr id="26" name="Shape 26"/>
          <p:cNvSpPr/>
          <p:nvPr/>
        </p:nvSpPr>
        <p:spPr>
          <a:xfrm>
            <a:off x="7945966" y="3721608"/>
            <a:ext cx="3433233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7945966" y="3721608"/>
            <a:ext cx="3433233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SAMUEL SALAMON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/ D.A. pleno · BR · Latam · LRSA</a:t>
            </a:r>
            <a:endParaRPr lang="pt-BR" sz="1200" dirty="0"/>
          </a:p>
        </p:txBody>
      </p:sp>
      <p:sp>
        <p:nvSpPr>
          <p:cNvPr id="28" name="Shape 28"/>
          <p:cNvSpPr/>
          <p:nvPr/>
        </p:nvSpPr>
        <p:spPr>
          <a:xfrm>
            <a:off x="4436533" y="4306316"/>
            <a:ext cx="3433233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9" name="Text 29"/>
          <p:cNvSpPr txBox="1"/>
          <p:nvPr/>
        </p:nvSpPr>
        <p:spPr>
          <a:xfrm>
            <a:off x="4436533" y="4306316"/>
            <a:ext cx="3433233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IAGO FRANCISCO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D.A. freela · BR · Latam · LRSA</a:t>
            </a:r>
            <a:endParaRPr lang="pt-BR" sz="1200" dirty="0"/>
          </a:p>
        </p:txBody>
      </p:sp>
      <p:sp>
        <p:nvSpPr>
          <p:cNvPr id="30" name="Shape 30"/>
          <p:cNvSpPr/>
          <p:nvPr/>
        </p:nvSpPr>
        <p:spPr>
          <a:xfrm>
            <a:off x="7945966" y="4306316"/>
            <a:ext cx="3433233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1" name="Text 31"/>
          <p:cNvSpPr txBox="1"/>
          <p:nvPr/>
        </p:nvSpPr>
        <p:spPr>
          <a:xfrm>
            <a:off x="7945966" y="4306316"/>
            <a:ext cx="3433233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GUILHERME LOURENÇO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D.A. freela · BR · Latam · LRSA</a:t>
            </a:r>
            <a:endParaRPr lang="pt-BR" sz="1200" dirty="0"/>
          </a:p>
        </p:txBody>
      </p:sp>
      <p:sp>
        <p:nvSpPr>
          <p:cNvPr id="32" name="Shape 32"/>
          <p:cNvSpPr/>
          <p:nvPr/>
        </p:nvSpPr>
        <p:spPr>
          <a:xfrm>
            <a:off x="4436533" y="4891024"/>
            <a:ext cx="3433233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3" name="Text 33"/>
          <p:cNvSpPr txBox="1"/>
          <p:nvPr/>
        </p:nvSpPr>
        <p:spPr>
          <a:xfrm>
            <a:off x="4436533" y="4891024"/>
            <a:ext cx="3433233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LUANA VIEIRA SILVEIRA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Redatora sênior · BR · Latam · LRSA</a:t>
            </a:r>
            <a:endParaRPr lang="pt-BR" sz="1200" dirty="0"/>
          </a:p>
        </p:txBody>
      </p:sp>
      <p:sp>
        <p:nvSpPr>
          <p:cNvPr id="34" name="Shape 34"/>
          <p:cNvSpPr/>
          <p:nvPr/>
        </p:nvSpPr>
        <p:spPr>
          <a:xfrm>
            <a:off x="7945966" y="4891024"/>
            <a:ext cx="3433233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5" name="Text 35"/>
          <p:cNvSpPr txBox="1"/>
          <p:nvPr/>
        </p:nvSpPr>
        <p:spPr>
          <a:xfrm>
            <a:off x="7945966" y="4891024"/>
            <a:ext cx="3433233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LIVIA MARCILIO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Redatora plena · BR · Latam · LRSA</a:t>
            </a:r>
            <a:endParaRPr lang="pt-BR" sz="1200" dirty="0"/>
          </a:p>
        </p:txBody>
      </p:sp>
      <p:sp>
        <p:nvSpPr>
          <p:cNvPr id="36" name="Shape 36"/>
          <p:cNvSpPr/>
          <p:nvPr/>
        </p:nvSpPr>
        <p:spPr>
          <a:xfrm>
            <a:off x="4436533" y="5475732"/>
            <a:ext cx="3433233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7" name="Text 37"/>
          <p:cNvSpPr txBox="1"/>
          <p:nvPr/>
        </p:nvSpPr>
        <p:spPr>
          <a:xfrm>
            <a:off x="4436533" y="5475732"/>
            <a:ext cx="3433233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 FRANKE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Redatora plena · BR · Latam</a:t>
            </a:r>
            <a:endParaRPr lang="pt-BR" sz="1200" dirty="0"/>
          </a:p>
        </p:txBody>
      </p:sp>
      <p:sp>
        <p:nvSpPr>
          <p:cNvPr id="38" name="Shape 38"/>
          <p:cNvSpPr/>
          <p:nvPr/>
        </p:nvSpPr>
        <p:spPr>
          <a:xfrm>
            <a:off x="7945966" y="5475732"/>
            <a:ext cx="3433233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9" name="Text 39"/>
          <p:cNvSpPr txBox="1"/>
          <p:nvPr/>
        </p:nvSpPr>
        <p:spPr>
          <a:xfrm>
            <a:off x="7945966" y="5475732"/>
            <a:ext cx="3433233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VANESSA ARAUJO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Redatora júnior/plena · BR · Latam · LRSA</a:t>
            </a:r>
            <a:endParaRPr lang="pt-BR" sz="1200" dirty="0"/>
          </a:p>
        </p:txBody>
      </p:sp>
      <p:sp>
        <p:nvSpPr>
          <p:cNvPr id="40" name="Text 40"/>
          <p:cNvSpPr txBox="1"/>
          <p:nvPr/>
        </p:nvSpPr>
        <p:spPr>
          <a:xfrm>
            <a:off x="9474200" y="63119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 (responde a)</a:t>
            </a:r>
            <a:endParaRPr lang="pt-BR" sz="1200" dirty="0"/>
          </a:p>
        </p:txBody>
      </p:sp>
      <p:sp>
        <p:nvSpPr>
          <p:cNvPr id="41" name="Shape 41"/>
          <p:cNvSpPr/>
          <p:nvPr/>
        </p:nvSpPr>
        <p:spPr>
          <a:xfrm>
            <a:off x="9042400" y="6426200"/>
            <a:ext cx="3556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42" name="Text 42"/>
          <p:cNvSpPr txBox="1"/>
          <p:nvPr/>
        </p:nvSpPr>
        <p:spPr>
          <a:xfrm>
            <a:off x="812800" y="6311900"/>
            <a:ext cx="792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Após o cargo: frentes de atuação (Renner BR, Renner Latam, LRSA, Conteúdo)</a:t>
            </a:r>
            <a:endParaRPr lang="pt-BR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304800"/>
            <a:ext cx="279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PAIM</a:t>
            </a:r>
            <a:pPr indent="0" marL="0">
              <a:buNone/>
            </a:pPr>
            <a:r>
              <a:rPr lang="en-US" sz="1400" dirty="0">
                <a:solidFill>
                  <a:srgbClr val="EC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CREATORS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9370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time de casa — Organograma time Renner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RENNER · CONTEÚDO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4445000" y="1168400"/>
            <a:ext cx="3302000" cy="558800"/>
          </a:xfrm>
          <a:prstGeom prst="rect">
            <a:avLst/>
          </a:prstGeom>
          <a:solidFill>
            <a:srgbClr val="EC6A3B"/>
          </a:solidFill>
          <a:ln/>
        </p:spPr>
      </p:sp>
      <p:sp>
        <p:nvSpPr>
          <p:cNvPr id="6" name="Text 6"/>
          <p:cNvSpPr txBox="1"/>
          <p:nvPr/>
        </p:nvSpPr>
        <p:spPr>
          <a:xfrm>
            <a:off x="4445000" y="11684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DIREÇÃO · DEH BASTOS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e conteúdo</a:t>
            </a:r>
            <a:endParaRPr lang="pt-BR" sz="1200" dirty="0"/>
          </a:p>
        </p:txBody>
      </p:sp>
      <p:sp>
        <p:nvSpPr>
          <p:cNvPr id="7" name="Shape 7"/>
          <p:cNvSpPr/>
          <p:nvPr/>
        </p:nvSpPr>
        <p:spPr>
          <a:xfrm>
            <a:off x="6096000" y="1727200"/>
            <a:ext cx="0" cy="1016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8" name="Shape 8"/>
          <p:cNvSpPr/>
          <p:nvPr/>
        </p:nvSpPr>
        <p:spPr>
          <a:xfrm>
            <a:off x="4445000" y="1828800"/>
            <a:ext cx="3302000" cy="558800"/>
          </a:xfrm>
          <a:prstGeom prst="rect">
            <a:avLst/>
          </a:prstGeom>
          <a:solidFill>
            <a:srgbClr val="EFEEEC"/>
          </a:solidFill>
          <a:ln/>
        </p:spPr>
      </p:sp>
      <p:sp>
        <p:nvSpPr>
          <p:cNvPr id="9" name="Text 9"/>
          <p:cNvSpPr txBox="1"/>
          <p:nvPr/>
        </p:nvSpPr>
        <p:spPr>
          <a:xfrm>
            <a:off x="4445000" y="18288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ANDRESSA MORAIS SILVA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Supervisora de conteúdo · BR · Latam</a:t>
            </a:r>
            <a:endParaRPr lang="pt-BR" sz="1200" dirty="0"/>
          </a:p>
        </p:txBody>
      </p:sp>
      <p:sp>
        <p:nvSpPr>
          <p:cNvPr id="10" name="Shape 10"/>
          <p:cNvSpPr/>
          <p:nvPr/>
        </p:nvSpPr>
        <p:spPr>
          <a:xfrm>
            <a:off x="6096000" y="2387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1" name="Shape 11"/>
          <p:cNvSpPr/>
          <p:nvPr/>
        </p:nvSpPr>
        <p:spPr>
          <a:xfrm>
            <a:off x="3378200" y="2514600"/>
            <a:ext cx="67183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2" name="Shape 12"/>
          <p:cNvSpPr/>
          <p:nvPr/>
        </p:nvSpPr>
        <p:spPr>
          <a:xfrm>
            <a:off x="337820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3" name="Shape 13"/>
          <p:cNvSpPr/>
          <p:nvPr/>
        </p:nvSpPr>
        <p:spPr>
          <a:xfrm>
            <a:off x="737870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4" name="Shape 14"/>
          <p:cNvSpPr/>
          <p:nvPr/>
        </p:nvSpPr>
        <p:spPr>
          <a:xfrm>
            <a:off x="1009650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5" name="Text 15"/>
          <p:cNvSpPr txBox="1"/>
          <p:nvPr/>
        </p:nvSpPr>
        <p:spPr>
          <a:xfrm>
            <a:off x="812800" y="2641600"/>
            <a:ext cx="5130800" cy="419100"/>
          </a:xfrm>
          <a:prstGeom prst="rect">
            <a:avLst/>
          </a:prstGeom>
          <a:solidFill>
            <a:srgbClr val="EC6A3B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DIREÇÃO DE ARTE</a:t>
            </a:r>
            <a:endParaRPr lang="pt-BR" sz="1600" dirty="0"/>
          </a:p>
        </p:txBody>
      </p:sp>
      <p:sp>
        <p:nvSpPr>
          <p:cNvPr id="16" name="Shape 16"/>
          <p:cNvSpPr/>
          <p:nvPr/>
        </p:nvSpPr>
        <p:spPr>
          <a:xfrm>
            <a:off x="812800" y="3136900"/>
            <a:ext cx="2527300" cy="6995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17" name="Text 17"/>
          <p:cNvSpPr txBox="1"/>
          <p:nvPr/>
        </p:nvSpPr>
        <p:spPr>
          <a:xfrm>
            <a:off x="812800" y="3136900"/>
            <a:ext cx="2527300" cy="699516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FERNANDA KNAK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D.A. sênior · Conteúdo BR · Latam</a:t>
            </a:r>
            <a:endParaRPr lang="pt-BR" sz="1200" dirty="0"/>
          </a:p>
        </p:txBody>
      </p:sp>
      <p:sp>
        <p:nvSpPr>
          <p:cNvPr id="18" name="Shape 18"/>
          <p:cNvSpPr/>
          <p:nvPr/>
        </p:nvSpPr>
        <p:spPr>
          <a:xfrm>
            <a:off x="3416300" y="3136900"/>
            <a:ext cx="2527300" cy="6995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19" name="Text 19"/>
          <p:cNvSpPr txBox="1"/>
          <p:nvPr/>
        </p:nvSpPr>
        <p:spPr>
          <a:xfrm>
            <a:off x="3416300" y="3136900"/>
            <a:ext cx="2527300" cy="699516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NICOLAS ROHLEDER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D.A. pleno · Conteúdo BR · Latam</a:t>
            </a:r>
            <a:endParaRPr lang="pt-BR" sz="1200" dirty="0"/>
          </a:p>
        </p:txBody>
      </p:sp>
      <p:sp>
        <p:nvSpPr>
          <p:cNvPr id="20" name="Shape 20"/>
          <p:cNvSpPr/>
          <p:nvPr/>
        </p:nvSpPr>
        <p:spPr>
          <a:xfrm>
            <a:off x="812800" y="3899916"/>
            <a:ext cx="2527300" cy="6995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1" name="Text 21"/>
          <p:cNvSpPr txBox="1"/>
          <p:nvPr/>
        </p:nvSpPr>
        <p:spPr>
          <a:xfrm>
            <a:off x="812800" y="3899916"/>
            <a:ext cx="2527300" cy="699516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JOSI FLORES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D.A. plena · Conteúdo BR · Latam</a:t>
            </a:r>
            <a:endParaRPr lang="pt-BR" sz="1200" dirty="0"/>
          </a:p>
        </p:txBody>
      </p:sp>
      <p:sp>
        <p:nvSpPr>
          <p:cNvPr id="22" name="Shape 22"/>
          <p:cNvSpPr/>
          <p:nvPr/>
        </p:nvSpPr>
        <p:spPr>
          <a:xfrm>
            <a:off x="3416300" y="3899916"/>
            <a:ext cx="2527300" cy="6995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3" name="Text 23"/>
          <p:cNvSpPr txBox="1"/>
          <p:nvPr/>
        </p:nvSpPr>
        <p:spPr>
          <a:xfrm>
            <a:off x="3416300" y="3899916"/>
            <a:ext cx="2527300" cy="699516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VINÍCIUS CAVALETTI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D.A. pleno · Conteúdo BR · Latam</a:t>
            </a:r>
            <a:endParaRPr lang="pt-BR" sz="1200" dirty="0"/>
          </a:p>
        </p:txBody>
      </p:sp>
      <p:sp>
        <p:nvSpPr>
          <p:cNvPr id="24" name="Shape 24"/>
          <p:cNvSpPr/>
          <p:nvPr/>
        </p:nvSpPr>
        <p:spPr>
          <a:xfrm>
            <a:off x="812800" y="4662932"/>
            <a:ext cx="2527300" cy="6995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812800" y="4662932"/>
            <a:ext cx="2527300" cy="699516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LUCCA BOL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D.A. júnior · Conteúdo BR · Latam</a:t>
            </a:r>
            <a:endParaRPr lang="pt-BR" sz="1200" dirty="0"/>
          </a:p>
        </p:txBody>
      </p:sp>
      <p:sp>
        <p:nvSpPr>
          <p:cNvPr id="26" name="Shape 26"/>
          <p:cNvSpPr/>
          <p:nvPr/>
        </p:nvSpPr>
        <p:spPr>
          <a:xfrm>
            <a:off x="3416300" y="4662932"/>
            <a:ext cx="2527300" cy="6995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3416300" y="4662932"/>
            <a:ext cx="2527300" cy="699516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MARIANNE ALVES SILVA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D.A. júnior · Conteúdo BR · Latam</a:t>
            </a:r>
            <a:endParaRPr lang="pt-BR" sz="1200" dirty="0"/>
          </a:p>
        </p:txBody>
      </p:sp>
      <p:sp>
        <p:nvSpPr>
          <p:cNvPr id="28" name="Shape 28"/>
          <p:cNvSpPr/>
          <p:nvPr/>
        </p:nvSpPr>
        <p:spPr>
          <a:xfrm>
            <a:off x="812800" y="5425948"/>
            <a:ext cx="2527300" cy="6995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9" name="Text 29"/>
          <p:cNvSpPr txBox="1"/>
          <p:nvPr/>
        </p:nvSpPr>
        <p:spPr>
          <a:xfrm>
            <a:off x="812800" y="5425948"/>
            <a:ext cx="2527300" cy="699516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GABRIELA DE PAULO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D.A. freela · Conteúdo BR · Latam</a:t>
            </a:r>
            <a:endParaRPr lang="pt-BR" sz="1200" dirty="0"/>
          </a:p>
        </p:txBody>
      </p:sp>
      <p:sp>
        <p:nvSpPr>
          <p:cNvPr id="30" name="Text 30"/>
          <p:cNvSpPr txBox="1"/>
          <p:nvPr/>
        </p:nvSpPr>
        <p:spPr>
          <a:xfrm>
            <a:off x="6096000" y="2641600"/>
            <a:ext cx="2565400" cy="419100"/>
          </a:xfrm>
          <a:prstGeom prst="rect">
            <a:avLst/>
          </a:prstGeom>
          <a:solidFill>
            <a:srgbClr val="B8393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REDAÇÃO</a:t>
            </a:r>
            <a:endParaRPr lang="pt-BR" sz="1600" dirty="0"/>
          </a:p>
        </p:txBody>
      </p:sp>
      <p:sp>
        <p:nvSpPr>
          <p:cNvPr id="31" name="Shape 31"/>
          <p:cNvSpPr/>
          <p:nvPr/>
        </p:nvSpPr>
        <p:spPr>
          <a:xfrm>
            <a:off x="6096000" y="3136900"/>
            <a:ext cx="2565400" cy="6995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6096000" y="3136900"/>
            <a:ext cx="2565400" cy="699516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ALEXANDRA MENDEZ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Redatora plena · Conteúdo Latam</a:t>
            </a:r>
            <a:endParaRPr lang="pt-BR" sz="1200" dirty="0"/>
          </a:p>
        </p:txBody>
      </p:sp>
      <p:sp>
        <p:nvSpPr>
          <p:cNvPr id="33" name="Shape 33"/>
          <p:cNvSpPr/>
          <p:nvPr/>
        </p:nvSpPr>
        <p:spPr>
          <a:xfrm>
            <a:off x="6096000" y="3899916"/>
            <a:ext cx="2565400" cy="6995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6096000" y="3899916"/>
            <a:ext cx="2565400" cy="699516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JULIETA ALCANTARA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Redatora plena · Conteúdo Latam</a:t>
            </a:r>
            <a:endParaRPr lang="pt-BR" sz="1200" dirty="0"/>
          </a:p>
        </p:txBody>
      </p:sp>
      <p:sp>
        <p:nvSpPr>
          <p:cNvPr id="35" name="Shape 35"/>
          <p:cNvSpPr/>
          <p:nvPr/>
        </p:nvSpPr>
        <p:spPr>
          <a:xfrm>
            <a:off x="6096000" y="4662932"/>
            <a:ext cx="2565400" cy="6995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6" name="Text 36"/>
          <p:cNvSpPr txBox="1"/>
          <p:nvPr/>
        </p:nvSpPr>
        <p:spPr>
          <a:xfrm>
            <a:off x="6096000" y="4662932"/>
            <a:ext cx="2565400" cy="699516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CAMILLA OLIVEIRA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Redatora jr. e CM · Conteúdo BR · Latam</a:t>
            </a:r>
            <a:endParaRPr lang="pt-BR" sz="1200" dirty="0"/>
          </a:p>
        </p:txBody>
      </p:sp>
      <p:sp>
        <p:nvSpPr>
          <p:cNvPr id="37" name="Shape 37"/>
          <p:cNvSpPr/>
          <p:nvPr/>
        </p:nvSpPr>
        <p:spPr>
          <a:xfrm>
            <a:off x="6096000" y="5425948"/>
            <a:ext cx="2565400" cy="6995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8" name="Text 38"/>
          <p:cNvSpPr txBox="1"/>
          <p:nvPr/>
        </p:nvSpPr>
        <p:spPr>
          <a:xfrm>
            <a:off x="6096000" y="5425948"/>
            <a:ext cx="2565400" cy="699516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HANNAH JOB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Redatora jr. e CM · Conteúdo BR · Latam</a:t>
            </a:r>
            <a:endParaRPr lang="pt-BR" sz="1200" dirty="0"/>
          </a:p>
        </p:txBody>
      </p:sp>
      <p:sp>
        <p:nvSpPr>
          <p:cNvPr id="39" name="Text 39"/>
          <p:cNvSpPr txBox="1"/>
          <p:nvPr/>
        </p:nvSpPr>
        <p:spPr>
          <a:xfrm>
            <a:off x="8813800" y="2641600"/>
            <a:ext cx="2565400" cy="419100"/>
          </a:xfrm>
          <a:prstGeom prst="rect">
            <a:avLst/>
          </a:prstGeom>
          <a:solidFill>
            <a:srgbClr val="14141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pt-BR" sz="1600" dirty="0"/>
          </a:p>
        </p:txBody>
      </p:sp>
      <p:sp>
        <p:nvSpPr>
          <p:cNvPr id="40" name="Shape 40"/>
          <p:cNvSpPr/>
          <p:nvPr/>
        </p:nvSpPr>
        <p:spPr>
          <a:xfrm>
            <a:off x="8813800" y="3136900"/>
            <a:ext cx="25654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41" name="Text 41"/>
          <p:cNvSpPr txBox="1"/>
          <p:nvPr/>
        </p:nvSpPr>
        <p:spPr>
          <a:xfrm>
            <a:off x="8813800" y="3136900"/>
            <a:ext cx="256540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LARISSA SANTOS DO Ó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 · Conteúdo BR · Latam</a:t>
            </a:r>
            <a:endParaRPr lang="pt-BR" sz="1200" dirty="0"/>
          </a:p>
        </p:txBody>
      </p:sp>
      <p:sp>
        <p:nvSpPr>
          <p:cNvPr id="42" name="Shape 42"/>
          <p:cNvSpPr/>
          <p:nvPr/>
        </p:nvSpPr>
        <p:spPr>
          <a:xfrm>
            <a:off x="8813800" y="3721608"/>
            <a:ext cx="25654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43" name="Text 43"/>
          <p:cNvSpPr txBox="1"/>
          <p:nvPr/>
        </p:nvSpPr>
        <p:spPr>
          <a:xfrm>
            <a:off x="8813800" y="3721608"/>
            <a:ext cx="256540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MARJORIE PAULA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 · Conteúdo BR · Latam</a:t>
            </a:r>
            <a:endParaRPr lang="pt-BR" sz="1200" dirty="0"/>
          </a:p>
        </p:txBody>
      </p:sp>
      <p:sp>
        <p:nvSpPr>
          <p:cNvPr id="44" name="Text 44"/>
          <p:cNvSpPr txBox="1"/>
          <p:nvPr/>
        </p:nvSpPr>
        <p:spPr>
          <a:xfrm>
            <a:off x="9474200" y="63119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 (responde a)</a:t>
            </a:r>
            <a:endParaRPr lang="pt-BR" sz="1200" dirty="0"/>
          </a:p>
        </p:txBody>
      </p:sp>
      <p:sp>
        <p:nvSpPr>
          <p:cNvPr id="45" name="Shape 45"/>
          <p:cNvSpPr/>
          <p:nvPr/>
        </p:nvSpPr>
        <p:spPr>
          <a:xfrm>
            <a:off x="9042400" y="6426200"/>
            <a:ext cx="3556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46" name="Text 46"/>
          <p:cNvSpPr txBox="1"/>
          <p:nvPr/>
        </p:nvSpPr>
        <p:spPr>
          <a:xfrm>
            <a:off x="812800" y="6311900"/>
            <a:ext cx="792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Após o cargo: frentes de atuação (Renner BR, Renner Latam, LRSA, Conteúdo)</a:t>
            </a:r>
            <a:endParaRPr lang="pt-BR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Organograma Time Renner</dc:title>
  <dc:subject>PptxGenJS Presentation</dc:subject>
  <dc:creator>PptxGenJS</dc:creator>
  <cp:lastModifiedBy>PptxGenJS</cp:lastModifiedBy>
  <cp:revision>1</cp:revision>
  <dcterms:created xsi:type="dcterms:W3CDTF">2026-10-02T21:03:56Z</dcterms:created>
  <dcterms:modified xsi:type="dcterms:W3CDTF">2026-10-02T21:03:56Z</dcterms:modified>
</cp:coreProperties>
</file>